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539bcc5b8f4c7e" /><Relationship Type="http://schemas.openxmlformats.org/officeDocument/2006/relationships/extended-properties" Target="/docProps/app.xml" Id="Rd30025da03154b96" /><Relationship Type="http://schemas.openxmlformats.org/officeDocument/2006/relationships/officeDocument" Target="/ppt/presentation.xml" Id="R7b8c9ff71d614c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5dfa7352eb46dd"/>
  </p:sldMasterIdLst>
  <p:notesMasterIdLst>
    <p:notesMasterId xmlns:r="http://schemas.openxmlformats.org/officeDocument/2006/relationships" r:id="Rdd632a6490de4492"/>
  </p:notesMasterIdLst>
  <p:sldIdLst>
    <p:sldId xmlns:r="http://schemas.openxmlformats.org/officeDocument/2006/relationships" id="256" r:id="R9df57f1890f544af"/>
    <p:sldId xmlns:r="http://schemas.openxmlformats.org/officeDocument/2006/relationships" id="257" r:id="R37bf2fc7bff14558"/>
    <p:sldId xmlns:r="http://schemas.openxmlformats.org/officeDocument/2006/relationships" id="258" r:id="Rcd4256d094c145f5"/>
    <p:sldId xmlns:r="http://schemas.openxmlformats.org/officeDocument/2006/relationships" id="259" r:id="R1ed453863191497f"/>
    <p:sldId xmlns:r="http://schemas.openxmlformats.org/officeDocument/2006/relationships" id="260" r:id="Rd2cb4052a06345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e087b3885d4099" /><Relationship Type="http://schemas.openxmlformats.org/officeDocument/2006/relationships/slideMaster" Target="/ppt/slideMasters/slideMaster1.xml" Id="R9b5dfa7352eb46dd" /><Relationship Type="http://schemas.openxmlformats.org/officeDocument/2006/relationships/notesMaster" Target="/ppt/notesMasters/notesMaster1.xml" Id="Rdd632a6490de4492" /><Relationship Type="http://schemas.openxmlformats.org/officeDocument/2006/relationships/presProps" Target="/ppt/presProps.xml" Id="Rd0acb7c836fa4073" /><Relationship Type="http://schemas.openxmlformats.org/officeDocument/2006/relationships/tableStyles" Target="/ppt/tableStyles.xml" Id="R4d3b3bad911d447d" /><Relationship Type="http://schemas.openxmlformats.org/officeDocument/2006/relationships/slide" Target="/ppt/slides/slide1.xml" Id="R9df57f1890f544af" /><Relationship Type="http://schemas.openxmlformats.org/officeDocument/2006/relationships/slide" Target="/ppt/slides/slide2.xml" Id="R37bf2fc7bff14558" /><Relationship Type="http://schemas.openxmlformats.org/officeDocument/2006/relationships/slide" Target="/ppt/slides/slide3.xml" Id="Rcd4256d094c145f5" /><Relationship Type="http://schemas.openxmlformats.org/officeDocument/2006/relationships/slide" Target="/ppt/slides/slide4.xml" Id="R1ed453863191497f" /><Relationship Type="http://schemas.openxmlformats.org/officeDocument/2006/relationships/slide" Target="/ppt/slides/slide5.xml" Id="Rd2cb4052a06345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ffaed77ebf4f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42cb2bec134692" /><Relationship Type="http://schemas.openxmlformats.org/officeDocument/2006/relationships/notesMaster" Target="/ppt/notesMasters/notesMaster1.xml" Id="R8071345bf4e449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51e4ad8f2e462a" /><Relationship Type="http://schemas.openxmlformats.org/officeDocument/2006/relationships/notesMaster" Target="/ppt/notesMasters/notesMaster1.xml" Id="R879ef6bccea548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c19da1772444f4" /><Relationship Type="http://schemas.openxmlformats.org/officeDocument/2006/relationships/notesMaster" Target="/ppt/notesMasters/notesMaster1.xml" Id="Rea2233dda03240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1333c8157e4990" /><Relationship Type="http://schemas.openxmlformats.org/officeDocument/2006/relationships/notesMaster" Target="/ppt/notesMasters/notesMaster1.xml" Id="R5f31387065db44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73858d146c4e75" /><Relationship Type="http://schemas.openxmlformats.org/officeDocument/2006/relationships/notesMaster" Target="/ppt/notesMasters/notesMaster1.xml" Id="R0b3795bde3f848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MatterMind discovery interviews 001–005 and docs/mvp/mvp-selection.md. Illustration generated for this fictional portfolio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MatterMind discovery interviews 001–005. The three workflows remain visually neutral; the next slide explains the selection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docs/mvp/mvp-selection.md. The exact source boundary remains subject to feasibility investigation.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docs/mvp/mvp-selection.md. Read-only operation lowers action risk but does not make inaccurate claims harmless.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docs/mvp/mvp-selection.md. Technical feasibility, architecture, and implementation planning follow these product validation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df2c89ccf149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43e7c13605452c" /><Relationship Type="http://schemas.openxmlformats.org/officeDocument/2006/relationships/slideLayout" Target="/ppt/slideLayouts/slideLayout1.xml" Id="R1e05799dff9e4c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05799dff9e4c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28cf1ac8a49d0" /><Relationship Type="http://schemas.openxmlformats.org/officeDocument/2006/relationships/image" Target="/ppt/media/image.png" Id="Ra69092cd7b1b48b7" /><Relationship Type="http://schemas.openxmlformats.org/officeDocument/2006/relationships/notesSlide" Target="/ppt/notesSlides/notesSlide1.xml" Id="R3da50da91c3a4d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9673b49da4d2e" /><Relationship Type="http://schemas.openxmlformats.org/officeDocument/2006/relationships/image" Target="/ppt/media/image2.png" Id="R64687d690fc64b0c" /><Relationship Type="http://schemas.openxmlformats.org/officeDocument/2006/relationships/notesSlide" Target="/ppt/notesSlides/notesSlide2.xml" Id="R8823450e6d7d48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9cae6bdf740a3" /><Relationship Type="http://schemas.openxmlformats.org/officeDocument/2006/relationships/notesSlide" Target="/ppt/notesSlides/notesSlide3.xml" Id="Re50f811fc0604e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3fc6fb93741c3" /><Relationship Type="http://schemas.openxmlformats.org/officeDocument/2006/relationships/notesSlide" Target="/ppt/notesSlides/notesSlide4.xml" Id="R61652a837b9a40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809c14bcc4b77" /><Relationship Type="http://schemas.openxmlformats.org/officeDocument/2006/relationships/notesSlide" Target="/ppt/notesSlides/notesSlide5.xml" Id="Rb6b55be9d78244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092cd7b1b48b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A9B35-D0D3-48AA-8457-3477B2F4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MatterMind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9C9AB-B87D-4843-9915-E1D6977E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F7FC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F7FC1"/>
                </a:solidFill>
                <a:latin typeface="Arial"/>
                <a:ea typeface="Arial"/>
                <a:cs typeface="Arial"/>
              </a:rPr>
              <a:t>MVP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EA5AA-4278-45A4-8DC9-1AFB1FA8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Read-only active-matter</a:t>
            </a:r>
          </a:p>
          <a:p xmlns:a="http://schemas.openxmlformats.org/drawingml/2006/main">
            <a:pPr>
              <a:defRPr sz="22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status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D8D3F-1FC2-447A-966D-CB8BFCA2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F61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F6173"/>
                </a:solidFill>
                <a:latin typeface="Arial"/>
                <a:ea typeface="Arial"/>
                <a:cs typeface="Arial"/>
              </a:rPr>
              <a:t>Product decision based on five discovery interviews</a:t>
            </a:r>
          </a:p>
        </p:txBody>
      </p:sp>
    </p:spTree>
    <p:extLst>
      <p:ext uri="{BB962C8B-B14F-4D97-AF65-F5344CB8AC3E}">
        <p14:creationId xmlns:p14="http://schemas.microsoft.com/office/powerpoint/2010/main" val="20176744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87d690fc64b0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706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1F50E-1B9F-45B9-B65A-21D96D66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Selected V1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3CA97-E199-4900-BBE0-7DBF4F01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F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F6173"/>
                </a:solidFill>
                <a:latin typeface="Arial"/>
                <a:ea typeface="Arial"/>
                <a:cs typeface="Arial"/>
              </a:rPr>
              <a:t>One matter, a defined source set, a fixed brief, and no autonomous writes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2D963-8FAC-498E-A547-F051223A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476500" cy="27241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B7CD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DEFINED MATTER SOURCES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Clio records</a:t>
            </a:r>
          </a:p>
          <a:p xmlns:a="http://schemas.openxmlformats.org/drawingml/2006/main">
            <a:pPr>
              <a:defRPr sz="180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Matter email</a:t>
            </a:r>
          </a:p>
          <a:p xmlns:a="http://schemas.openxmlformats.org/drawingml/2006/main">
            <a:pPr>
              <a:defRPr sz="180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Attachments</a:t>
            </a:r>
          </a:p>
          <a:p xmlns:a="http://schemas.openxmlformats.org/drawingml/2006/main">
            <a:pPr>
              <a:defRPr sz="180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Defined time window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711BF-041A-4A01-A891-1A9F9731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24100"/>
            <a:ext cx="2876550" cy="21145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D2B55"/>
          </a:solidFill>
          <a:ln xmlns:a="http://schemas.openxmlformats.org/drawingml/2006/main" w="9525">
            <a:solidFill>
              <a:srgbClr val="0D2B55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MATTERMIND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Reconstruct current state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Ground material claims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Surface uncertainty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58CB5-1090-41FD-8D8E-AE09998F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409950" cy="3448050"/>
          </a:xfrm>
          <a:prstGeom xmlns:a="http://schemas.openxmlformats.org/drawingml/2006/main" prst="roundRect">
            <a:avLst>
              <a:gd name="adj" fmla="val 5028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E2BD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9A84B-D68E-46D2-8CBD-0B32A2C6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621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CURRENT-STATE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09FF2-2098-449B-9CC2-D0BDF4BB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7241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75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6263A"/>
                </a:solidFill>
                <a:latin typeface="Arial"/>
                <a:ea typeface="Arial"/>
                <a:cs typeface="Arial"/>
              </a:rPr>
              <a:t>Last significant event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75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6263A"/>
                </a:solidFill>
                <a:latin typeface="Arial"/>
                <a:ea typeface="Arial"/>
                <a:cs typeface="Arial"/>
              </a:rPr>
              <a:t>Current waiting state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75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6263A"/>
                </a:solidFill>
                <a:latin typeface="Arial"/>
                <a:ea typeface="Arial"/>
                <a:cs typeface="Arial"/>
              </a:rPr>
              <a:t>Next action and owner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75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6263A"/>
                </a:solidFill>
                <a:latin typeface="Arial"/>
                <a:ea typeface="Arial"/>
                <a:cs typeface="Arial"/>
              </a:rPr>
              <a:t>Known deadline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75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6263A"/>
                </a:solidFill>
                <a:latin typeface="Arial"/>
                <a:ea typeface="Arial"/>
                <a:cs typeface="Arial"/>
              </a:rPr>
              <a:t>Significant new information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75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6263A"/>
                </a:solidFill>
                <a:latin typeface="Arial"/>
                <a:ea typeface="Arial"/>
                <a:cs typeface="Arial"/>
              </a:rPr>
              <a:t>Evidence and freshness</a:t>
            </a:r>
          </a:p>
        </p:txBody>
      </p:sp>
      <p:cxnSp>
        <p:nvCxnSpPr>
          <p:cNvPr id="1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62300" y="33813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F7FC1"/>
            </a:solidFill>
            <a:prstDash val="solid"/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086600" y="3381375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8AD48"/>
            </a:solidFill>
            <a:prstDash val="solid"/>
            <a:tail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5035B-7EA4-42CE-9793-31FB9F77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753100"/>
            <a:ext cx="758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Read-only output keeps early failures observable and reversible</a:t>
            </a:r>
          </a:p>
        </p:txBody>
      </p:sp>
    </p:spTree>
    <p:extLst>
      <p:ext uri="{BB962C8B-B14F-4D97-AF65-F5344CB8AC3E}">
        <p14:creationId xmlns:p14="http://schemas.microsoft.com/office/powerpoint/2010/main" val="12271833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7D657-ABBC-41F3-A395-35E0554F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Trust and operating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E3CAD-84FC-4B10-A23E-18AB7B2E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F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F6173"/>
                </a:solidFill>
                <a:latin typeface="Arial"/>
                <a:ea typeface="Arial"/>
                <a:cs typeface="Arial"/>
              </a:rPr>
              <a:t>Source evidence and explicit uncertainty define acceptable V1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DED25-F79A-4FEF-8E00-C9710786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459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F7FC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F7FC1"/>
                </a:solidFill>
                <a:latin typeface="Arial"/>
                <a:ea typeface="Arial"/>
                <a:cs typeface="Arial"/>
              </a:rPr>
              <a:t>V1 DOES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D19B2-5F14-4E6C-A7EC-80D6F3CB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7625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63A"/>
                </a:solidFill>
                <a:latin typeface="Arial"/>
                <a:ea typeface="Arial"/>
                <a:cs typeface="Arial"/>
              </a:rPr>
              <a:t>Links material claims to inspectable evidence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63A"/>
                </a:solidFill>
                <a:latin typeface="Arial"/>
                <a:ea typeface="Arial"/>
                <a:cs typeface="Arial"/>
              </a:rPr>
              <a:t>Reports unknown or contradictory states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63A"/>
                </a:solidFill>
                <a:latin typeface="Arial"/>
                <a:ea typeface="Arial"/>
                <a:cs typeface="Arial"/>
              </a:rPr>
              <a:t>Shows the reviewed time boundary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63A"/>
                </a:solidFill>
                <a:latin typeface="Arial"/>
                <a:ea typeface="Arial"/>
                <a:cs typeface="Arial"/>
              </a:rPr>
              <a:t>Keeps the user in control of interpretation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63A"/>
                </a:solidFill>
                <a:latin typeface="Arial"/>
                <a:ea typeface="Arial"/>
                <a:cs typeface="Arial"/>
              </a:rPr>
              <a:t>Remains read-only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C036B-0E95-4CA5-A935-2AC39DD7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62100"/>
            <a:ext cx="0" cy="3790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EA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3D35F-9D9D-45C5-8FB8-14ADF345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38300"/>
            <a:ext cx="459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8AD4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8AD48"/>
                </a:solidFill>
                <a:latin typeface="Arial"/>
                <a:ea typeface="Arial"/>
                <a:cs typeface="Arial"/>
              </a:rPr>
              <a:t>V1 DOES NOT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B2069-8094-4675-BF52-1431CBC6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90750"/>
            <a:ext cx="47625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63A"/>
                </a:solidFill>
                <a:latin typeface="Arial"/>
                <a:ea typeface="Arial"/>
                <a:cs typeface="Arial"/>
              </a:rPr>
              <a:t>Write to Clio, email, calendars, or tasks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63A"/>
                </a:solidFill>
                <a:latin typeface="Arial"/>
                <a:ea typeface="Arial"/>
                <a:cs typeface="Arial"/>
              </a:rPr>
              <a:t>Make legal judgments or deadline decisions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63A"/>
                </a:solidFill>
                <a:latin typeface="Arial"/>
                <a:ea typeface="Arial"/>
                <a:cs typeface="Arial"/>
              </a:rPr>
              <a:t>Resolve conflicting sources silently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63A"/>
                </a:solidFill>
                <a:latin typeface="Arial"/>
                <a:ea typeface="Arial"/>
                <a:cs typeface="Arial"/>
              </a:rPr>
              <a:t>Present unsupported claims as facts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63A"/>
                </a:solidFill>
                <a:latin typeface="Arial"/>
                <a:ea typeface="Arial"/>
                <a:cs typeface="Arial"/>
              </a:rPr>
              <a:t>Expand into intake or obligation detection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1FDAA-9CF8-489C-8182-39662474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10250"/>
            <a:ext cx="86106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Unknown or insufficient evidence is valid product behavior</a:t>
            </a:r>
          </a:p>
        </p:txBody>
      </p:sp>
    </p:spTree>
    <p:extLst>
      <p:ext uri="{BB962C8B-B14F-4D97-AF65-F5344CB8AC3E}">
        <p14:creationId xmlns:p14="http://schemas.microsoft.com/office/powerpoint/2010/main" val="7949674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6203C7-62A2-4B98-B643-116CCDE5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Validation gates before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191D9-4F3B-486B-9E42-2A2C7EC5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F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F6173"/>
                </a:solidFill>
                <a:latin typeface="Arial"/>
                <a:ea typeface="Arial"/>
                <a:cs typeface="Arial"/>
              </a:rPr>
              <a:t>The product decision stands only if the bounded workflow proves useful and reviewable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17B29-E4B7-4DF7-A0E7-D5DDBA60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335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F7F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88555-4293-4D03-ABC3-D9C23128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81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5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D46F9-17F4-4BDD-8877-54CD685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5716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Pain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08A8F-8AC3-42E6-8E22-FC4A9EDE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9050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F61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F6173"/>
                </a:solidFill>
                <a:latin typeface="Arial"/>
                <a:ea typeface="Arial"/>
                <a:cs typeface="Arial"/>
              </a:rPr>
              <a:t>Reconstruction occurs often enough to justify intervention.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D9A21-2DEB-4FC2-9F6E-65751BB4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5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B0867-565B-4ECE-B48E-9A45A2F4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71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Source sufficiency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1C4F5-26FD-4AC7-BC5F-378D3F92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051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F61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F6173"/>
                </a:solidFill>
                <a:latin typeface="Arial"/>
                <a:ea typeface="Arial"/>
                <a:cs typeface="Arial"/>
              </a:rPr>
              <a:t>A bounded source set supports a useful current-state brief.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2865D-7942-43C2-BA58-8C910CC6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5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0A0AD-EC0E-4343-B2C2-E74E9B42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718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Association and permissions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6347B-010F-4706-B5B7-80CCFF22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052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F61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F6173"/>
                </a:solidFill>
                <a:latin typeface="Arial"/>
                <a:ea typeface="Arial"/>
                <a:cs typeface="Arial"/>
              </a:rPr>
              <a:t>Evidence maps to the correct matter and respects access boundaries.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85ADA-389C-47B3-BCFE-D9990933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5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77FD9-0E67-41F2-A545-8C0BA568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719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Evaluation and trust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B8187-81B6-40A9-B4B2-4DB9D031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3053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F61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F6173"/>
                </a:solidFill>
                <a:latin typeface="Arial"/>
                <a:ea typeface="Arial"/>
                <a:cs typeface="Arial"/>
              </a:rPr>
              <a:t>Qualified reviewers can judge accuracy, support, freshness, and usefulness.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FF393-DA0D-434C-8277-6EF959FD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D4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7E664-B7C1-4919-A891-0AD7B4D5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720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Business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7101CD-1DAE-403A-87A1-44FCE276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1054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F61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F6173"/>
                </a:solidFill>
                <a:latin typeface="Arial"/>
                <a:ea typeface="Arial"/>
                <a:cs typeface="Arial"/>
              </a:rPr>
              <a:t>Faster orientation improves response time, avoids duplicate work, or increases capacity.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E164C-392D-4AD8-932D-06EA2033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943600"/>
            <a:ext cx="746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2B5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2B55"/>
                </a:solidFill>
                <a:latin typeface="Arial"/>
                <a:ea typeface="Arial"/>
                <a:cs typeface="Arial"/>
              </a:rPr>
              <a:t>Next: define explicit scope, success criteria, and validation evidence</a:t>
            </a:r>
          </a:p>
        </p:txBody>
      </p:sp>
    </p:spTree>
    <p:extLst>
      <p:ext uri="{BB962C8B-B14F-4D97-AF65-F5344CB8AC3E}">
        <p14:creationId xmlns:p14="http://schemas.microsoft.com/office/powerpoint/2010/main" val="52952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2026-09-24T18:19:37.8680000Z</dcterms:created>
  <dcterms:modified xsi:type="dcterms:W3CDTF">2026-09-24T18:19:37.8680000Z</dcterms:modified>
</coreProperties>
</file>