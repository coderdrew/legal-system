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edba49ae945a1" /><Relationship Type="http://schemas.openxmlformats.org/officeDocument/2006/relationships/extended-properties" Target="/docProps/app.xml" Id="R67e72d8d30ad423b" /><Relationship Type="http://schemas.openxmlformats.org/officeDocument/2006/relationships/officeDocument" Target="/ppt/presentation.xml" Id="R3ab53f77d7a044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01bfbed1942b9"/>
  </p:sldMasterIdLst>
  <p:notesMasterIdLst>
    <p:notesMasterId xmlns:r="http://schemas.openxmlformats.org/officeDocument/2006/relationships" r:id="R77f61e7348174511"/>
  </p:notesMasterIdLst>
  <p:sldIdLst>
    <p:sldId xmlns:r="http://schemas.openxmlformats.org/officeDocument/2006/relationships" id="256" r:id="R8d5b0aabd13f48f2"/>
    <p:sldId xmlns:r="http://schemas.openxmlformats.org/officeDocument/2006/relationships" id="257" r:id="Rbdf55090946f42cf"/>
    <p:sldId xmlns:r="http://schemas.openxmlformats.org/officeDocument/2006/relationships" id="258" r:id="R952f87c834d34ab4"/>
    <p:sldId xmlns:r="http://schemas.openxmlformats.org/officeDocument/2006/relationships" id="259" r:id="R97a48bd4bc9b49e5"/>
    <p:sldId xmlns:r="http://schemas.openxmlformats.org/officeDocument/2006/relationships" id="260" r:id="R4c78fb50626a4135"/>
    <p:sldId xmlns:r="http://schemas.openxmlformats.org/officeDocument/2006/relationships" id="261" r:id="Rc1eb4d6651b74c88"/>
    <p:sldId xmlns:r="http://schemas.openxmlformats.org/officeDocument/2006/relationships" id="262" r:id="R957e0d44d50d4750"/>
    <p:sldId xmlns:r="http://schemas.openxmlformats.org/officeDocument/2006/relationships" id="263" r:id="R29343e6c5f904d20"/>
    <p:sldId xmlns:r="http://schemas.openxmlformats.org/officeDocument/2006/relationships" id="264" r:id="R4ce86ab8a4104229"/>
    <p:sldId xmlns:r="http://schemas.openxmlformats.org/officeDocument/2006/relationships" id="265" r:id="Rc34e2b2f7dd24103"/>
    <p:sldId xmlns:r="http://schemas.openxmlformats.org/officeDocument/2006/relationships" id="266" r:id="R7b7590238b1b4e5d"/>
    <p:sldId xmlns:r="http://schemas.openxmlformats.org/officeDocument/2006/relationships" id="267" r:id="R211a93e7893040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814afb480349df" /><Relationship Type="http://schemas.openxmlformats.org/officeDocument/2006/relationships/slideMaster" Target="/ppt/slideMasters/slideMaster1.xml" Id="R3a001bfbed1942b9" /><Relationship Type="http://schemas.openxmlformats.org/officeDocument/2006/relationships/notesMaster" Target="/ppt/notesMasters/notesMaster1.xml" Id="R77f61e7348174511" /><Relationship Type="http://schemas.openxmlformats.org/officeDocument/2006/relationships/presProps" Target="/ppt/presProps.xml" Id="Rcfc00edc41a24e91" /><Relationship Type="http://schemas.openxmlformats.org/officeDocument/2006/relationships/tableStyles" Target="/ppt/tableStyles.xml" Id="R2f74aabeb41a4a82" /><Relationship Type="http://schemas.openxmlformats.org/officeDocument/2006/relationships/slide" Target="/ppt/slides/slide1.xml" Id="R8d5b0aabd13f48f2" /><Relationship Type="http://schemas.openxmlformats.org/officeDocument/2006/relationships/slide" Target="/ppt/slides/slide2.xml" Id="Rbdf55090946f42cf" /><Relationship Type="http://schemas.openxmlformats.org/officeDocument/2006/relationships/slide" Target="/ppt/slides/slide3.xml" Id="R952f87c834d34ab4" /><Relationship Type="http://schemas.openxmlformats.org/officeDocument/2006/relationships/slide" Target="/ppt/slides/slide4.xml" Id="R97a48bd4bc9b49e5" /><Relationship Type="http://schemas.openxmlformats.org/officeDocument/2006/relationships/slide" Target="/ppt/slides/slide5.xml" Id="R4c78fb50626a4135" /><Relationship Type="http://schemas.openxmlformats.org/officeDocument/2006/relationships/slide" Target="/ppt/slides/slide6.xml" Id="Rc1eb4d6651b74c88" /><Relationship Type="http://schemas.openxmlformats.org/officeDocument/2006/relationships/slide" Target="/ppt/slides/slide7.xml" Id="R957e0d44d50d4750" /><Relationship Type="http://schemas.openxmlformats.org/officeDocument/2006/relationships/slide" Target="/ppt/slides/slide8.xml" Id="R29343e6c5f904d20" /><Relationship Type="http://schemas.openxmlformats.org/officeDocument/2006/relationships/slide" Target="/ppt/slides/slide9.xml" Id="R4ce86ab8a4104229" /><Relationship Type="http://schemas.openxmlformats.org/officeDocument/2006/relationships/slide" Target="/ppt/slides/slide10.xml" Id="Rc34e2b2f7dd24103" /><Relationship Type="http://schemas.openxmlformats.org/officeDocument/2006/relationships/slide" Target="/ppt/slides/slide11.xml" Id="R7b7590238b1b4e5d" /><Relationship Type="http://schemas.openxmlformats.org/officeDocument/2006/relationships/slide" Target="/ppt/slides/slide12.xml" Id="R211a93e78930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bfa57706945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459087e9a94a6c" /><Relationship Type="http://schemas.openxmlformats.org/officeDocument/2006/relationships/notesMaster" Target="/ppt/notesMasters/notesMaster1.xml" Id="R7b851c75366b49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45f46553a948b5" /><Relationship Type="http://schemas.openxmlformats.org/officeDocument/2006/relationships/notesMaster" Target="/ppt/notesMasters/notesMaster1.xml" Id="Rd9c020aef3d4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cdda05ac9a4067" /><Relationship Type="http://schemas.openxmlformats.org/officeDocument/2006/relationships/notesMaster" Target="/ppt/notesMasters/notesMaster1.xml" Id="R552288ae0d21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dd782f0d36425a" /><Relationship Type="http://schemas.openxmlformats.org/officeDocument/2006/relationships/notesMaster" Target="/ppt/notesMasters/notesMaster1.xml" Id="R97759adc41134d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49778a89c94e33" /><Relationship Type="http://schemas.openxmlformats.org/officeDocument/2006/relationships/notesMaster" Target="/ppt/notesMasters/notesMaster1.xml" Id="R171ada5180894c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d1de922984fcf" /><Relationship Type="http://schemas.openxmlformats.org/officeDocument/2006/relationships/notesMaster" Target="/ppt/notesMasters/notesMaster1.xml" Id="Rcd6333c0d9ad4a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f95af69a6441b" /><Relationship Type="http://schemas.openxmlformats.org/officeDocument/2006/relationships/notesMaster" Target="/ppt/notesMasters/notesMaster1.xml" Id="R3e07800ea9744f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377545b5e4011" /><Relationship Type="http://schemas.openxmlformats.org/officeDocument/2006/relationships/notesMaster" Target="/ppt/notesMasters/notesMaster1.xml" Id="R984cf0ed3d1648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04509d99840af" /><Relationship Type="http://schemas.openxmlformats.org/officeDocument/2006/relationships/notesMaster" Target="/ppt/notesMasters/notesMaster1.xml" Id="R7259e5bdf3a749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02f3f01bca452e" /><Relationship Type="http://schemas.openxmlformats.org/officeDocument/2006/relationships/notesMaster" Target="/ppt/notesMasters/notesMaster1.xml" Id="R9c0c6bf26bff4d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3a8aef8d5642a4" /><Relationship Type="http://schemas.openxmlformats.org/officeDocument/2006/relationships/notesMaster" Target="/ppt/notesMasters/notesMaster1.xml" Id="Rd4db512fc0d749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e48d03ccfa4b2b" /><Relationship Type="http://schemas.openxmlformats.org/officeDocument/2006/relationships/notesMaster" Target="/ppt/notesMasters/notesMaster1.xml" Id="R92178ebc7eb8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MatterMind discovery interviews 001–005 and docs/mvp/mvp-selection.md. All people, matters, and organizations are fictional and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discovery interviews 001–005. Established findings are separated from assumptions that still require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MatterMind discovery interviews 001–005. This visual distinguishes workflow activities, information work, and human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discovery interviews 001–003 and MVP selection handoff. No quantitative intake volume, time, error rate, or ROI has been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discovery interviews 001 and 005. The firm is not known to routinely miss serious court deadlines; the current process appears effective.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discovery interviews 001, 003, and 004; docs/mvp/mvp-selection.md.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MVP selection handoff. The source boundary remains a hypothesis, not a technical decision or integration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synthetic example based on the V1 output definition and the evidence example supplied in the MVP handoff. It does not represent a real client or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MVP selection handoff. Unknown is valid product behavior and should not be presented as system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MVP selection handoff. The exclusions prevent scope expansion into intake, deadline automation, generalized search, or operational write-back.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MVP selection handoff assumptions A1–A10 and invalidation conditions. A3 and A4 were explicitly identified as potentially higher risk than LLM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MVP selection handoff. Architecture, provider selection, evaluation design, and implementation planning follow product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887da6217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ae85dc87b4d66" /><Relationship Type="http://schemas.openxmlformats.org/officeDocument/2006/relationships/slideLayout" Target="/ppt/slideLayouts/slideLayout1.xml" Id="Rd563e4b054b7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3e4b054b7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aaefd7c314b58" /><Relationship Type="http://schemas.openxmlformats.org/officeDocument/2006/relationships/image" Target="/ppt/media/image.png" Id="R8b7dd70ed33d4065" /><Relationship Type="http://schemas.openxmlformats.org/officeDocument/2006/relationships/notesSlide" Target="/ppt/notesSlides/notesSlide1.xml" Id="R1d4beadae692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075b0c7b44ac4" /><Relationship Type="http://schemas.openxmlformats.org/officeDocument/2006/relationships/notesSlide" Target="/ppt/notesSlides/notesSlide2.xml" Id="R44d413c828e64e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3e74302d84c19" /><Relationship Type="http://schemas.openxmlformats.org/officeDocument/2006/relationships/image" Target="/ppt/media/image2.png" Id="R34e8fe64a6c244e7" /><Relationship Type="http://schemas.openxmlformats.org/officeDocument/2006/relationships/notesSlide" Target="/ppt/notesSlides/notesSlide3.xml" Id="R16e5ba69a96d40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a7c110ff94dc7" /><Relationship Type="http://schemas.openxmlformats.org/officeDocument/2006/relationships/notesSlide" Target="/ppt/notesSlides/notesSlide4.xml" Id="Rdbfafbb0548841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8815bcdab48e0" /><Relationship Type="http://schemas.openxmlformats.org/officeDocument/2006/relationships/notesSlide" Target="/ppt/notesSlides/notesSlide5.xml" Id="Rb5f6ed1f3acf4d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97756d4b43bc" /><Relationship Type="http://schemas.openxmlformats.org/officeDocument/2006/relationships/notesSlide" Target="/ppt/notesSlides/notesSlide6.xml" Id="R9dcc97c0a6fe41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5848a9a0b4df9" /><Relationship Type="http://schemas.openxmlformats.org/officeDocument/2006/relationships/notesSlide" Target="/ppt/notesSlides/notesSlide7.xml" Id="R9fa558f2fba344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75c232dad4394" /><Relationship Type="http://schemas.openxmlformats.org/officeDocument/2006/relationships/notesSlide" Target="/ppt/notesSlides/notesSlide8.xml" Id="Ra882c1236c9d4c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0de9731234c78" /><Relationship Type="http://schemas.openxmlformats.org/officeDocument/2006/relationships/notesSlide" Target="/ppt/notesSlides/notesSlide9.xml" Id="R80265e5a7df148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5afe90424ad2" /><Relationship Type="http://schemas.openxmlformats.org/officeDocument/2006/relationships/notesSlide" Target="/ppt/notesSlides/notesSlide10.xml" Id="Reb0143538b8e4c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de09e0b8b4cc4" /><Relationship Type="http://schemas.openxmlformats.org/officeDocument/2006/relationships/notesSlide" Target="/ppt/notesSlides/notesSlide11.xml" Id="Rc11c03e0a30145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3265f7dfb41f9" /><Relationship Type="http://schemas.openxmlformats.org/officeDocument/2006/relationships/notesSlide" Target="/ppt/notesSlides/notesSlide12.xml" Id="R8d7c4f12b59645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dd70ed33d40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2BF09-4931-4BD0-859C-9379C55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MatterMind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02074-411F-4D16-8B11-52708E63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From discovery to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8FA4E-239A-468A-BFD9-AC424E86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Product decision and V1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BBB38-51F8-4E07-9CBD-1A963CD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Fictional legal-operations portfolio project</a:t>
            </a:r>
          </a:p>
        </p:txBody>
      </p:sp>
    </p:spTree>
    <p:extLst>
      <p:ext uri="{BB962C8B-B14F-4D97-AF65-F5344CB8AC3E}">
        <p14:creationId xmlns:p14="http://schemas.microsoft.com/office/powerpoint/2010/main" val="1261759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41EC1-05A1-43B6-BECC-8654910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Discovery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7C9FC-A118-401B-9B91-80CA166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Five stakeholder interviews established the workflow landscape, but several business and technical assumptions remain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C132E-BA1D-4A2B-AF0F-E4DF44A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B7547-366B-48D5-BB7A-F1C3C632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724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Clio remains the matter-management system of record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Daily work and context span Outlook, documents, Teams, and SharePoint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Staff manually bridge gaps between systems and communication channels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Source verification matters when information is summarized or reconstructed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Human judgment remains essential for conflicts and legal deadlines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DB02B-7BCF-463A-91E7-BEBDA483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0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63DFB-2BF2-443D-B54E-C704B470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764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REQUIRES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D569C-12DF-4EE6-84D9-760941F7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7625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Workflow frequency and time burden have not been measured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The minimum useful evidence set remains unknown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Matter-to-evidence association may be difficult across systems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Permission and access constraints need feasibility research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User trust depends on accuracy, grounding, and useful abstention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5D563-AD04-4449-81F7-1254F143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Discovery supports a product bet, not an implementation design</a:t>
            </a:r>
          </a:p>
        </p:txBody>
      </p:sp>
    </p:spTree>
    <p:extLst>
      <p:ext uri="{BB962C8B-B14F-4D97-AF65-F5344CB8AC3E}">
        <p14:creationId xmlns:p14="http://schemas.microsoft.com/office/powerpoint/2010/main" val="497130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8fe64a6c244e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63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A6FA5-F5D9-4D2D-933A-F84AC374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Prospective-client intake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25B60-1ABD-4737-B356-07849B52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Technically narrow, but discovery did not establish enough pain or return on investment for the first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8AD43-52DE-4348-A971-6B30AA89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WHAT DISCOVERY SHOWED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63897-3094-44F7-8DAB-702134FB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The workflow is clunky but generally works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Ownership, routing, and handoff contain deterministic opportunities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AI may help structure narratives and identify possible parties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Conflict determination must remain a human judgment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DC328-DBA9-4D2F-AFF8-8DF4AD5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7640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F80F7-5D9B-44A1-A916-7D308028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WHY IT WAS DEFERRED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944AE-F609-4EFF-8C26-98D2243B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Pain per intake appears relatively low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Observed failures appear occasional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Volume, handling time, error rate, and cost remain unmeasured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The strongest opportunities may be conventional workflow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2A6A6-0A77-4FCF-A4F7-44A171A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Disposition: reserve until discovery demonstrates material user pain or capacity value</a:t>
            </a:r>
          </a:p>
        </p:txBody>
      </p:sp>
    </p:spTree>
    <p:extLst>
      <p:ext uri="{BB962C8B-B14F-4D97-AF65-F5344CB8AC3E}">
        <p14:creationId xmlns:p14="http://schemas.microsoft.com/office/powerpoint/2010/main" val="892824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C714F-21AA-4105-908B-CD53FED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Deadlines, obligations, and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A3DF-BE2B-491D-9CDE-57C595B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Meaningful cognitive work exists, but reliability demands and uncertain pain make this a poor first proving 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C822-34F7-44BD-863E-09B7449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WHAT DISCOVERY SHOWED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B3E8C-07E0-4FF5-BF75-8E23E94B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8577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Potential obligations arise from documents, email, and internal commitments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Staff detect candidates before attorneys validate legal meaning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The current process includes meaningful human safeguards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Confirmed obligations may need updates across Clio and Outlook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08888-0358-43BF-99D6-B498FB6F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764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C8E59-9780-47D5-9C2C-82B7E741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WHY IT WAS DEFERRED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69D83-4EA9-4650-8ADB-A7EF5CFF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7625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Discovery did not show routine missed court deadlines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Pain and workload magnitude remain uncertain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False negatives may carry significant consequences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A3E"/>
                </a:solidFill>
                <a:latin typeface="Arial"/>
                <a:ea typeface="Arial"/>
                <a:cs typeface="Arial"/>
              </a:rPr>
              <a:t>Detection alone covers only part of the obligation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8AF3F-1CE1-47B8-81CB-C03F2B5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Disposition: defer until value, evaluation tolerance, and review controls are better understood</a:t>
            </a:r>
          </a:p>
        </p:txBody>
      </p:sp>
    </p:spTree>
    <p:extLst>
      <p:ext uri="{BB962C8B-B14F-4D97-AF65-F5344CB8AC3E}">
        <p14:creationId xmlns:p14="http://schemas.microsoft.com/office/powerpoint/2010/main" val="59792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DA604-8D5E-4ABD-8F10-DC00304E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Active-matter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5EF08-6CE2-463E-A53C-0CF3567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The strongest balance of demonstrated pain, bounded product risk, and learning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37654-8D75-4247-8347-BB1EA1B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DESIRABILITY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B4B92-D981-43C9-BD26-D87E7A8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52575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Recurring reconstruction pain appeared across legal operations, attorney, and paralegal roles.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C3DC0-5530-492D-A086-A734F482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C6D41-C91F-4505-8CC4-7CA6B11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VIABILITY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1D4E2-3D40-4448-8B5E-AF71793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Professional time goes toward reconstructing information that already exists.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4B3F1-8E26-4A4A-8877-6C65EFA7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B11A3-2577-42BC-952F-08B5E7AD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5518E-2E10-4951-9D9C-99FC203D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33725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One selected matter and limited authorized sources create a natural product boundary.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A1CC0-7288-49E5-9723-2E6E8A74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CE7D3-2313-4DF6-B3BB-E7B0AC8D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EB3CE-63A0-4EA2-96CF-A0E2D18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243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Read-only behavior, source grounding, and abstention keep early failures observable and reversible.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572AF-6805-4BBB-B737-8E8AE363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3E10C-8DCB-4C74-B15F-9D293134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B297E-F44F-4C31-AAAD-811D34F2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14875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The MVP tests retrieval correctness, matter association, provenance, permissions, and user trust.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388A2-31A9-42F7-A722-052062D1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D2B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decision: read-only active-matter status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600459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FC80A-AEF7-41FE-BF3B-621870E5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MatterMind V1 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2139-2422-4136-9A08-48A6879E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The user requests a brief for one matter; MatterMind reconstructs state from authorized evidence and takes no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8A483-CFAE-417A-B238-B3D91FB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26695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AFC9D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EXPLICIT TRIGGER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Authorized user selects one matter and requests current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509B3-966E-4AB0-A186-722371C8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2400300" cy="2476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E0B96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DEFINED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Matter identity</a:t>
            </a:r>
          </a:p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Authorized evidence</a:t>
            </a:r>
          </a:p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Constrained source set</a:t>
            </a:r>
          </a:p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Defined time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453F-3FA9-469D-918F-F28C4E2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2400300" cy="2476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B55"/>
          </a:solidFill>
          <a:ln xmlns:a="http://schemas.openxmlformats.org/drawingml/2006/main" w="9525">
            <a:solidFill>
              <a:srgbClr val="0D2B55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Determine current operational state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 claims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Expose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DFC65-DD17-4A50-9872-1A512A4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05740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A9D0C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FIXED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Structured matter status brief with inspectable evidence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14650" y="3219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7FC1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3219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AD48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896350" y="3219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E7D65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37E76-7637-437B-BEE8-E37C193C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Working source hypothesis: Clio plus matter-associated email and attachments</a:t>
            </a:r>
          </a:p>
        </p:txBody>
      </p:sp>
    </p:spTree>
    <p:extLst>
      <p:ext uri="{BB962C8B-B14F-4D97-AF65-F5344CB8AC3E}">
        <p14:creationId xmlns:p14="http://schemas.microsoft.com/office/powerpoint/2010/main" val="2122059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BA809-214B-45A1-A464-36578CC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Matter Status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F6727-0EE6-4970-8EB3-3C0E1B1B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Illustrative synthetic experience showing structured state, evidence,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1934E-62EA-4946-B2BD-FE86028E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547C-2C73-4255-BA57-38272B4F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77A"/>
                </a:solidFill>
                <a:latin typeface="Arial"/>
                <a:ea typeface="Arial"/>
                <a:cs typeface="Arial"/>
              </a:rPr>
              <a:t>HENDERSON MATTER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9A6B9-4198-491D-BE86-0936D529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Current operational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0A671-AEA7-416E-8661-722AF9CB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Settlement discussions remain open. The firm appears to be waiting for revised settlement documents from opposing counsel.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0E62-405D-453D-A3EA-1A36802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619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6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84767-FB27-48D0-BFDE-03CE45D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3677A"/>
                </a:solidFill>
                <a:latin typeface="Arial"/>
                <a:ea typeface="Arial"/>
                <a:cs typeface="Arial"/>
              </a:rPr>
              <a:t>Waiting 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4006E-A76B-40F9-9259-63959F5E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Revised settlement documents from opposing counsel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51784-4C6D-413B-995A-BD827AF9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314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INFERRED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77F89-11C7-4638-B9A1-863BD246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29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77A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0B71F-2E1F-4DDE-9AE5-0011479A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72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Review the revised documents when received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1FAF5-B109-4F16-96FB-3875070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4EB0C-4F93-4123-9B3A-35B0AE1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SUPPORTING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68821-C6DE-4E14-A787-231749A0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3E"/>
                </a:solidFill>
                <a:latin typeface="Arial"/>
                <a:ea typeface="Arial"/>
                <a:cs typeface="Arial"/>
              </a:rPr>
              <a:t>Email from Jane Smith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D8886-3945-4FE2-A734-69EF9EE2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September 21,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2C75B-465F-4F3C-97D8-3510A4E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Opposing counsel expects to provide revised documents after internal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89C37-36F8-47AC-BBB1-5C77329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33850"/>
            <a:ext cx="15621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View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E0210-F5A2-4452-9F66-D41D28A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76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77A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6895B-421D-4DED-8DF0-BC6C1E11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38700"/>
            <a:ext cx="13525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82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38292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</p:spTree>
    <p:extLst>
      <p:ext uri="{BB962C8B-B14F-4D97-AF65-F5344CB8AC3E}">
        <p14:creationId xmlns:p14="http://schemas.microsoft.com/office/powerpoint/2010/main" val="893391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87A74-8A21-4AAE-A923-BA28DF9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Trust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86B2B-7C18-4B6C-88B1-029488AD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MatterMind communicates the strength of evidence and remains read-only regardless of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05C25-2A4C-4CBC-8959-646F3AC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43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D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A4640-39BB-4D73-BF47-793C05F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Retrieved evidence directly supports the statement.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E8260-B837-4094-8F39-D45F516F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343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INFERRED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BD678-F5B9-4C40-A7E7-A5FD83DF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Multiple sources imply the state, but none states it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D8569-EA4B-4979-88BB-98E2FD96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343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CONFLICTING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6BB1B-5C26-49A4-83B6-DC22934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Available evidence supports different conclusions.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9887A-C5C8-4C5A-A3A7-EDAA0BAF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343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3829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38292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4BBB0-9235-4802-9B9D-5C9DBCA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The available evidence cannot support a useful answer.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79C0F-DC69-4001-A462-631BD62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F0381-9955-4BC6-9630-E2771DD0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READ-ONLY ACTION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254E7-9A74-403A-802B-21D9E0E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MatterMind reports and explains reconstructed state. It does not modify records, tasks, calendars, deadlines, documents, assignments, or email.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19F56-1E0C-466A-9F9C-7865D062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Reliability takes priority over always producing an answer</a:t>
            </a:r>
          </a:p>
        </p:txBody>
      </p:sp>
    </p:spTree>
    <p:extLst>
      <p:ext uri="{BB962C8B-B14F-4D97-AF65-F5344CB8AC3E}">
        <p14:creationId xmlns:p14="http://schemas.microsoft.com/office/powerpoint/2010/main" val="1515721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99B93-C304-4603-BF1B-31CD327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Explicit V1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C38F-0175-4225-B370-349871DF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The narrow scope protects the product decision from adjacent workflows and uncontrolled operational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5066E-E6C3-432B-90F5-BA4BF22D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IN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3721-B9DA-4980-8E61-D9A0E0A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One explicitly selected matter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A constrained set of authorized evidence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A structured current-state brief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Inspectable support for material claims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Explicit uncertainty and abstention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Read-only user-requested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9C012-D5B6-4E8E-8C0D-A86D09CB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FD033-4A69-430D-8C61-C5F77BB0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OUT OF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6CB1F-9C81-4D44-AFBC-CF013BA2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Intake automation or conflict determination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Authoritative deadline calculation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Task, calendar, email, or document changes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General firm-wide chat or unrestricted search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Background agents or proactive monitoring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A3E"/>
                </a:solidFill>
                <a:latin typeface="Arial"/>
                <a:ea typeface="Arial"/>
                <a:cs typeface="Arial"/>
              </a:rPr>
              <a:t>Replacing Clio or creating another source of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08174-205F-4CB0-ACD6-DC096CFA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D2B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Clio remains the system of record</a:t>
            </a:r>
          </a:p>
        </p:txBody>
      </p:sp>
    </p:spTree>
    <p:extLst>
      <p:ext uri="{BB962C8B-B14F-4D97-AF65-F5344CB8AC3E}">
        <p14:creationId xmlns:p14="http://schemas.microsoft.com/office/powerpoint/2010/main" val="55115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F84A6-2467-45D5-BB7A-E3911D0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Assumptions and invalidation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64E59-510F-4A4F-B06B-F76DC67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Retrieval correctness may matter more than model sophistication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F2D68-27FC-4525-8877-B521B826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PRODUCT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E629B-9080-46FC-A929-E0EFC38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724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A1  Reconstruction occurs often enough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A2  It consumes meaningful professional time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A8  The brief improves the workflow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A9  Users treat it as an orientation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03BE8-0A42-47CF-9FCA-3FEC75D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EVIDENCE AND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0A38B-88C5-4520-95FD-54EFA2D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49149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A3  A limited source set contains enough evidence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A4  Evidence maps to the correct matter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A5  Current state is usually recoverable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A6  Stale information can be distinguished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A7  Claims can link to useful evidence</a:t>
            </a:r>
          </a:p>
          <a:p xmlns:a="http://schemas.openxmlformats.org/drawingml/2006/main">
            <a:pPr>
              <a:defRPr sz="1650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A10 Permissions can be respected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A3F7D-9A98-4214-AD82-A6C1920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HIGHEST-RISK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D85FC-00AD-4025-8015-085D37A8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A3 and A4: retrieve the right evidence for the right matter and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41FA7-469D-408F-AC80-64E6D901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50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504B"/>
                </a:solidFill>
                <a:latin typeface="Arial"/>
                <a:ea typeface="Arial"/>
                <a:cs typeface="Arial"/>
              </a:rPr>
              <a:t>RECONSIDER THE MVP 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D4F66-69C5-44DF-9E7E-DFD3CA8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A3E"/>
                </a:solidFill>
                <a:latin typeface="Arial"/>
                <a:ea typeface="Arial"/>
                <a:cs typeface="Arial"/>
              </a:rPr>
              <a:t>Reconstruction is rare or trivial, evidence is inaccessible, matter association is unreliable, integration cost outweighs value, or the brief fails to improve the existing workflow.</a:t>
            </a:r>
          </a:p>
        </p:txBody>
      </p:sp>
    </p:spTree>
    <p:extLst>
      <p:ext uri="{BB962C8B-B14F-4D97-AF65-F5344CB8AC3E}">
        <p14:creationId xmlns:p14="http://schemas.microsoft.com/office/powerpoint/2010/main" val="1885931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E66F2-289D-494D-9F32-CA29C7A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What we validate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7B0EE-97B5-4059-AE9F-789A916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Product evidence comes before architecture and implementation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9751-3FE7-4F87-9353-66F0B6F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5260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7F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CAE0F-5E6D-4019-9360-3AF65EB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81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BC129-5E04-44D2-9C36-AF118F0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71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Measure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55E1C-57B2-4DE0-9A4A-46C7E91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0500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How often does reconstruction occur, and how much time does it consume?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F2A7-FC74-4578-B2C2-8FE3B70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90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46032-F7DA-45C2-844B-522B0A02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Test the source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B6EF-37C4-4950-8EF4-6EBC0CF6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14625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What minimum evidence set produces a useful brief?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2CDDE-A415-431E-94E4-BB14DA8F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4DBAA-1A8A-4D6C-9CC0-36997B3A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Verify retrieval correctness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3BC77-0FD6-470F-AC35-F4FCEC3E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2425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Can evidence map reliably to the correct matter and authorized user?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EA3B1-0FFB-4351-B814-ACA1D0B7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0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41B8D-30B3-406A-B572-E881A4F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00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Measure ambiguity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00BAD-1E10-4AC3-89DD-F06FCECF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33875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How often is current state stale, conflicting, or genuinely unknown?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C9B94-591D-4B8A-A93E-EA20434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19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D4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2ADED-7FF4-46C7-9D0A-262286F9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Evaluate value and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03B1B-6CA1-4DA4-9858-0E61A0BD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77A"/>
                </a:solidFill>
                <a:latin typeface="Arial"/>
                <a:ea typeface="Arial"/>
                <a:cs typeface="Arial"/>
              </a:rPr>
              <a:t>Does the brief reduce reconstruction time, and what grounding or abstention earns trust?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242AF-6FC8-4AE9-BB6E-86359164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Next artifact: explicit MVP scope, success criteria, and validation plan</a:t>
            </a:r>
          </a:p>
        </p:txBody>
      </p:sp>
    </p:spTree>
    <p:extLst>
      <p:ext uri="{BB962C8B-B14F-4D97-AF65-F5344CB8AC3E}">
        <p14:creationId xmlns:p14="http://schemas.microsoft.com/office/powerpoint/2010/main" val="416370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2026-09-24T18:26:54.3980000Z</dcterms:created>
  <dcterms:modified xsi:type="dcterms:W3CDTF">2026-09-24T18:26:54.3980000Z</dcterms:modified>
</coreProperties>
</file>